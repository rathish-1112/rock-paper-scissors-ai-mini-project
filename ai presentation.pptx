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1"/>
  </p:notesMasterIdLst>
  <p:sldIdLst>
    <p:sldId id="256" r:id="rId2"/>
    <p:sldId id="257" r:id="rId3"/>
    <p:sldId id="259" r:id="rId4"/>
    <p:sldId id="258" r:id="rId5"/>
    <p:sldId id="260" r:id="rId6"/>
    <p:sldId id="264" r:id="rId7"/>
    <p:sldId id="265"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CCDAD-1080-CF8E-0A1D-A7AFD70A3A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490D58-47FD-DCF9-F65D-CD3038BA5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535668-A450-F5C6-5B79-6C72685261A2}"/>
              </a:ext>
            </a:extLst>
          </p:cNvPr>
          <p:cNvSpPr>
            <a:spLocks noGrp="1"/>
          </p:cNvSpPr>
          <p:nvPr>
            <p:ph type="dt" sz="half" idx="10"/>
          </p:nvPr>
        </p:nvSpPr>
        <p:spPr/>
        <p:txBody>
          <a:bodyPr/>
          <a:lstStyle/>
          <a:p>
            <a:fld id="{36A8A127-BB09-41A4-B1CB-CF09F8E9604A}" type="datetime1">
              <a:rPr lang="en-US" smtClean="0"/>
              <a:t>11/9/2025</a:t>
            </a:fld>
            <a:endParaRPr lang="en-US"/>
          </a:p>
        </p:txBody>
      </p:sp>
      <p:sp>
        <p:nvSpPr>
          <p:cNvPr id="5" name="Footer Placeholder 4">
            <a:extLst>
              <a:ext uri="{FF2B5EF4-FFF2-40B4-BE49-F238E27FC236}">
                <a16:creationId xmlns:a16="http://schemas.microsoft.com/office/drawing/2014/main" id="{6745795D-A8B5-2B67-27C6-17B8B758F4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C09B8-9B7D-4941-BF3C-694443B855DD}"/>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492057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CF04-0AE5-925F-02F1-D220ADBD08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4E2E5C-B80E-484D-305E-0A7FAD45CA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8ED954-8E37-2201-AAFE-B71D1EF1DFE8}"/>
              </a:ext>
            </a:extLst>
          </p:cNvPr>
          <p:cNvSpPr>
            <a:spLocks noGrp="1"/>
          </p:cNvSpPr>
          <p:nvPr>
            <p:ph type="dt" sz="half" idx="10"/>
          </p:nvPr>
        </p:nvSpPr>
        <p:spPr/>
        <p:txBody>
          <a:bodyPr/>
          <a:lstStyle/>
          <a:p>
            <a:fld id="{42A9C543-C1A5-4BB5-A80B-9531F5C51CEB}" type="datetime1">
              <a:rPr lang="en-US" smtClean="0"/>
              <a:t>11/9/2025</a:t>
            </a:fld>
            <a:endParaRPr lang="en-US"/>
          </a:p>
        </p:txBody>
      </p:sp>
      <p:sp>
        <p:nvSpPr>
          <p:cNvPr id="5" name="Footer Placeholder 4">
            <a:extLst>
              <a:ext uri="{FF2B5EF4-FFF2-40B4-BE49-F238E27FC236}">
                <a16:creationId xmlns:a16="http://schemas.microsoft.com/office/drawing/2014/main" id="{7FF30D1F-811C-121A-963E-75120B53F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E9842-E936-78AA-5ED2-0081AB771B3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9878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A8C4-AA5B-E75F-7913-C430A9E144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355BA1-C82C-A2DE-9B61-3226ACBEC3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85916C-571A-0F79-4A02-74A14C9C6198}"/>
              </a:ext>
            </a:extLst>
          </p:cNvPr>
          <p:cNvSpPr>
            <a:spLocks noGrp="1"/>
          </p:cNvSpPr>
          <p:nvPr>
            <p:ph type="dt" sz="half" idx="10"/>
          </p:nvPr>
        </p:nvSpPr>
        <p:spPr/>
        <p:txBody>
          <a:bodyPr/>
          <a:lstStyle/>
          <a:p>
            <a:fld id="{85DB2ABE-BEC8-4A12-8AF2-3E9347C9F9C5}" type="datetime1">
              <a:rPr lang="en-US" smtClean="0"/>
              <a:t>11/9/2025</a:t>
            </a:fld>
            <a:endParaRPr lang="en-US"/>
          </a:p>
        </p:txBody>
      </p:sp>
      <p:sp>
        <p:nvSpPr>
          <p:cNvPr id="5" name="Footer Placeholder 4">
            <a:extLst>
              <a:ext uri="{FF2B5EF4-FFF2-40B4-BE49-F238E27FC236}">
                <a16:creationId xmlns:a16="http://schemas.microsoft.com/office/drawing/2014/main" id="{61080985-F0FE-85DB-7179-CCA585DC5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E626B-7F9C-1EB9-C260-0F081D725CB2}"/>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9384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FC06-F7FD-05E6-2DE8-6AF627EF28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8E7472-0541-49CA-E578-99FD50A147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409434-4BDF-A3DB-3686-365A7E622E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BA4665-BB45-48E1-544D-713C98762D11}"/>
              </a:ext>
            </a:extLst>
          </p:cNvPr>
          <p:cNvSpPr>
            <a:spLocks noGrp="1"/>
          </p:cNvSpPr>
          <p:nvPr>
            <p:ph type="dt" sz="half" idx="10"/>
          </p:nvPr>
        </p:nvSpPr>
        <p:spPr/>
        <p:txBody>
          <a:bodyPr/>
          <a:lstStyle/>
          <a:p>
            <a:fld id="{E457CA91-FD83-4EFE-93EA-63992C03614F}" type="datetime1">
              <a:rPr lang="en-US" smtClean="0"/>
              <a:t>11/9/2025</a:t>
            </a:fld>
            <a:endParaRPr lang="en-US"/>
          </a:p>
        </p:txBody>
      </p:sp>
      <p:sp>
        <p:nvSpPr>
          <p:cNvPr id="6" name="Footer Placeholder 5">
            <a:extLst>
              <a:ext uri="{FF2B5EF4-FFF2-40B4-BE49-F238E27FC236}">
                <a16:creationId xmlns:a16="http://schemas.microsoft.com/office/drawing/2014/main" id="{BAD1AF53-8B45-E7F2-1FAD-A8E6FD4396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50134B-863F-1FB0-715F-AD74E42AC6EE}"/>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16556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3084-C7D4-DDA3-09D5-347483080B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36D83A-E116-830B-1C7C-C68E92DA7F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FB6D2-1497-4A2F-955B-67A5392BC9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401AFB-93A7-303E-07F6-E2D457790B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1410F7-D955-471D-DB32-96AE6E359B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30530C-8F39-868F-3ECF-848334D1DB02}"/>
              </a:ext>
            </a:extLst>
          </p:cNvPr>
          <p:cNvSpPr>
            <a:spLocks noGrp="1"/>
          </p:cNvSpPr>
          <p:nvPr>
            <p:ph type="dt" sz="half" idx="10"/>
          </p:nvPr>
        </p:nvSpPr>
        <p:spPr/>
        <p:txBody>
          <a:bodyPr/>
          <a:lstStyle/>
          <a:p>
            <a:fld id="{07D6C43A-13E2-48A2-BAE5-CC73887FC199}" type="datetime1">
              <a:rPr lang="en-US" smtClean="0"/>
              <a:t>11/9/2025</a:t>
            </a:fld>
            <a:endParaRPr lang="en-US"/>
          </a:p>
        </p:txBody>
      </p:sp>
      <p:sp>
        <p:nvSpPr>
          <p:cNvPr id="8" name="Footer Placeholder 7">
            <a:extLst>
              <a:ext uri="{FF2B5EF4-FFF2-40B4-BE49-F238E27FC236}">
                <a16:creationId xmlns:a16="http://schemas.microsoft.com/office/drawing/2014/main" id="{07AADBDA-AD38-9E24-0B0D-49F8294718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71DD9A-4A95-AC94-88A7-A75940D457AD}"/>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13284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4DBB-8F28-A5CA-DFD8-06F9ED6308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72D8EB-716A-19DE-D353-3CDB247D3E4F}"/>
              </a:ext>
            </a:extLst>
          </p:cNvPr>
          <p:cNvSpPr>
            <a:spLocks noGrp="1"/>
          </p:cNvSpPr>
          <p:nvPr>
            <p:ph type="dt" sz="half" idx="10"/>
          </p:nvPr>
        </p:nvSpPr>
        <p:spPr/>
        <p:txBody>
          <a:bodyPr/>
          <a:lstStyle/>
          <a:p>
            <a:fld id="{4EA2C5D3-416C-4131-8BC9-E71DA97D5A64}" type="datetime1">
              <a:rPr lang="en-US" smtClean="0"/>
              <a:t>11/9/2025</a:t>
            </a:fld>
            <a:endParaRPr lang="en-US"/>
          </a:p>
        </p:txBody>
      </p:sp>
      <p:sp>
        <p:nvSpPr>
          <p:cNvPr id="4" name="Footer Placeholder 3">
            <a:extLst>
              <a:ext uri="{FF2B5EF4-FFF2-40B4-BE49-F238E27FC236}">
                <a16:creationId xmlns:a16="http://schemas.microsoft.com/office/drawing/2014/main" id="{F36E993A-ABC0-6C6B-5CFB-B6D0668791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2DE6AF-6C87-B338-B5CB-6B196EBD3EF4}"/>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633255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2F3B02-7071-0EE7-C2AF-5E2FA871045B}"/>
              </a:ext>
            </a:extLst>
          </p:cNvPr>
          <p:cNvSpPr>
            <a:spLocks noGrp="1"/>
          </p:cNvSpPr>
          <p:nvPr>
            <p:ph type="dt" sz="half" idx="10"/>
          </p:nvPr>
        </p:nvSpPr>
        <p:spPr/>
        <p:txBody>
          <a:bodyPr/>
          <a:lstStyle/>
          <a:p>
            <a:fld id="{B8971593-8386-48B7-BB85-87C0949B2086}" type="datetime1">
              <a:rPr lang="en-US" smtClean="0"/>
              <a:t>11/9/2025</a:t>
            </a:fld>
            <a:endParaRPr lang="en-US"/>
          </a:p>
        </p:txBody>
      </p:sp>
      <p:sp>
        <p:nvSpPr>
          <p:cNvPr id="3" name="Footer Placeholder 2">
            <a:extLst>
              <a:ext uri="{FF2B5EF4-FFF2-40B4-BE49-F238E27FC236}">
                <a16:creationId xmlns:a16="http://schemas.microsoft.com/office/drawing/2014/main" id="{71718A0C-8A43-A1F0-9358-B85134B12F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0B98DE-7586-D3B4-E04A-35C1556010BD}"/>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33945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43E5-06D6-763C-E5D9-FA823B805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811D7E-00B4-1407-7E2D-372B4A7319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63A1B2-5748-18C0-C851-8E8666474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258136-4EAB-E658-7FCB-C3E148934B27}"/>
              </a:ext>
            </a:extLst>
          </p:cNvPr>
          <p:cNvSpPr>
            <a:spLocks noGrp="1"/>
          </p:cNvSpPr>
          <p:nvPr>
            <p:ph type="dt" sz="half" idx="10"/>
          </p:nvPr>
        </p:nvSpPr>
        <p:spPr/>
        <p:txBody>
          <a:bodyPr/>
          <a:lstStyle/>
          <a:p>
            <a:fld id="{3070F398-88D3-4D2F-9F7E-785BF8AD0274}" type="datetime1">
              <a:rPr lang="en-US" smtClean="0"/>
              <a:t>11/9/2025</a:t>
            </a:fld>
            <a:endParaRPr lang="en-US"/>
          </a:p>
        </p:txBody>
      </p:sp>
      <p:sp>
        <p:nvSpPr>
          <p:cNvPr id="6" name="Footer Placeholder 5">
            <a:extLst>
              <a:ext uri="{FF2B5EF4-FFF2-40B4-BE49-F238E27FC236}">
                <a16:creationId xmlns:a16="http://schemas.microsoft.com/office/drawing/2014/main" id="{E62A5A81-7BD4-B420-FFC7-FEF2215B0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5D94EF-C263-2D72-D68D-748D0AE35102}"/>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43836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6E1CD-695A-1C09-097E-2EAB32CC5F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71BFAB-DA2F-F9A7-E0BC-81BDB0397E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D5485E-6D62-D698-2628-9FA558175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C86DB-E2A8-440A-F3F0-9E5C8FEBE3D1}"/>
              </a:ext>
            </a:extLst>
          </p:cNvPr>
          <p:cNvSpPr>
            <a:spLocks noGrp="1"/>
          </p:cNvSpPr>
          <p:nvPr>
            <p:ph type="dt" sz="half" idx="10"/>
          </p:nvPr>
        </p:nvSpPr>
        <p:spPr/>
        <p:txBody>
          <a:bodyPr/>
          <a:lstStyle/>
          <a:p>
            <a:fld id="{A7FA37CB-3111-4E43-978B-840B0C3E984E}" type="datetime1">
              <a:rPr lang="en-US" smtClean="0"/>
              <a:t>11/9/2025</a:t>
            </a:fld>
            <a:endParaRPr lang="en-US"/>
          </a:p>
        </p:txBody>
      </p:sp>
      <p:sp>
        <p:nvSpPr>
          <p:cNvPr id="6" name="Footer Placeholder 5">
            <a:extLst>
              <a:ext uri="{FF2B5EF4-FFF2-40B4-BE49-F238E27FC236}">
                <a16:creationId xmlns:a16="http://schemas.microsoft.com/office/drawing/2014/main" id="{52B54808-FF87-D51E-5ABE-72DE568DEA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04378-84AD-AE49-6569-97F7617E917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74318963"/>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DDBC-FBDF-6795-9CFD-51D092C11A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9EAC13-25CC-BDB4-5CFB-AFEC68FDC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59EBC8-A90A-B3E0-CE10-C2CFFA0031C0}"/>
              </a:ext>
            </a:extLst>
          </p:cNvPr>
          <p:cNvSpPr>
            <a:spLocks noGrp="1"/>
          </p:cNvSpPr>
          <p:nvPr>
            <p:ph type="dt" sz="half" idx="10"/>
          </p:nvPr>
        </p:nvSpPr>
        <p:spPr/>
        <p:txBody>
          <a:bodyPr/>
          <a:lstStyle/>
          <a:p>
            <a:fld id="{850BF149-3A71-4B38-9BDE-7A4D7C7AB1AD}" type="datetime1">
              <a:rPr lang="en-US" smtClean="0"/>
              <a:t>11/9/2025</a:t>
            </a:fld>
            <a:endParaRPr lang="en-US"/>
          </a:p>
        </p:txBody>
      </p:sp>
      <p:sp>
        <p:nvSpPr>
          <p:cNvPr id="5" name="Footer Placeholder 4">
            <a:extLst>
              <a:ext uri="{FF2B5EF4-FFF2-40B4-BE49-F238E27FC236}">
                <a16:creationId xmlns:a16="http://schemas.microsoft.com/office/drawing/2014/main" id="{4DD96912-45BD-E529-9B55-EC9857B8B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DBE48-F0A8-FB78-CE54-CE637C045688}"/>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8306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A2E3C5-42BF-34D9-1A4B-309114BD6C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9A9856-EF9A-9FD8-2D5C-4B63CD0F54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67C21-9C43-8EE7-A6F1-38040CE1871F}"/>
              </a:ext>
            </a:extLst>
          </p:cNvPr>
          <p:cNvSpPr>
            <a:spLocks noGrp="1"/>
          </p:cNvSpPr>
          <p:nvPr>
            <p:ph type="dt" sz="half" idx="10"/>
          </p:nvPr>
        </p:nvSpPr>
        <p:spPr/>
        <p:txBody>
          <a:bodyPr/>
          <a:lstStyle/>
          <a:p>
            <a:fld id="{25415CF1-83E4-4056-B983-BD617F30DAFA}" type="datetime1">
              <a:rPr lang="en-US" smtClean="0"/>
              <a:t>11/9/2025</a:t>
            </a:fld>
            <a:endParaRPr lang="en-US"/>
          </a:p>
        </p:txBody>
      </p:sp>
      <p:sp>
        <p:nvSpPr>
          <p:cNvPr id="5" name="Footer Placeholder 4">
            <a:extLst>
              <a:ext uri="{FF2B5EF4-FFF2-40B4-BE49-F238E27FC236}">
                <a16:creationId xmlns:a16="http://schemas.microsoft.com/office/drawing/2014/main" id="{214DDA5E-BC7F-4BB7-81D7-CE079FEA82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26ED4A-2AD0-C096-6C95-C606A48B28CD}"/>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31267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E06DA2-104E-9227-B88D-48AD6DDB47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EAF6CA-A0C3-A6D0-1791-855FF12764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7F612D-5376-077A-7126-DE6F0A3794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11/9/2025</a:t>
            </a:fld>
            <a:endParaRPr lang="en-US"/>
          </a:p>
        </p:txBody>
      </p:sp>
      <p:sp>
        <p:nvSpPr>
          <p:cNvPr id="5" name="Footer Placeholder 4">
            <a:extLst>
              <a:ext uri="{FF2B5EF4-FFF2-40B4-BE49-F238E27FC236}">
                <a16:creationId xmlns:a16="http://schemas.microsoft.com/office/drawing/2014/main" id="{0F6297B2-3292-088C-1DD5-62202C169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3B79A8-0566-4E97-F0DE-7B8881CFEB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170525197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122447" y="0"/>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0"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b="1" dirty="0">
                <a:solidFill>
                  <a:srgbClr val="FF0000"/>
                </a:solidFill>
                <a:latin typeface="Times New Roman" panose="02020603050405020304" pitchFamily="18" charset="0"/>
                <a:cs typeface="Times New Roman" panose="02020603050405020304" pitchFamily="18" charset="0"/>
              </a:rPr>
              <a:t>ROCK-PAPER-SCISSORS AI (RANDOM + LEARNING)</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11/9/2025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457287171"/>
              </p:ext>
            </p:extLst>
          </p:nvPr>
        </p:nvGraphicFramePr>
        <p:xfrm>
          <a:off x="1484479" y="3733565"/>
          <a:ext cx="8392696" cy="290637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pPr algn="l"/>
                      <a:r>
                        <a:rPr lang="en-IN" sz="1800" b="0" i="0" u="none" strike="noStrike" kern="1200" baseline="0" dirty="0">
                          <a:solidFill>
                            <a:schemeClr val="lt1"/>
                          </a:solidFill>
                          <a:latin typeface="+mn-lt"/>
                          <a:ea typeface="+mn-ea"/>
                          <a:cs typeface="+mn-cs"/>
                        </a:rPr>
                        <a:t>2117240070252</a:t>
                      </a:r>
                    </a:p>
                    <a:p>
                      <a:endParaRPr lang="en-US" dirty="0"/>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IN" sz="1800" b="0" i="0" u="none" strike="noStrike" kern="1200" baseline="0" dirty="0" err="1">
                          <a:solidFill>
                            <a:schemeClr val="dk1"/>
                          </a:solidFill>
                          <a:latin typeface="+mn-lt"/>
                          <a:ea typeface="+mn-ea"/>
                          <a:cs typeface="+mn-cs"/>
                        </a:rPr>
                        <a:t>P.N.Rathish</a:t>
                      </a:r>
                      <a:r>
                        <a:rPr lang="en-IN" sz="1800" b="0" i="0" u="none" strike="noStrike" kern="1200" baseline="0" dirty="0">
                          <a:solidFill>
                            <a:schemeClr val="dk1"/>
                          </a:solidFill>
                          <a:latin typeface="+mn-lt"/>
                          <a:ea typeface="+mn-ea"/>
                          <a:cs typeface="+mn-cs"/>
                        </a:rPr>
                        <a:t> 	</a:t>
                      </a:r>
                    </a:p>
                    <a:p>
                      <a:endParaRPr lang="en-US" dirty="0"/>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IN" sz="1800" b="1" i="0" u="none" strike="noStrike" kern="1200" baseline="0" dirty="0">
                          <a:solidFill>
                            <a:schemeClr val="dk1"/>
                          </a:solidFill>
                          <a:latin typeface="+mn-lt"/>
                          <a:ea typeface="+mn-ea"/>
                          <a:cs typeface="+mn-cs"/>
                        </a:rPr>
                        <a:t>2025 - 2026 </a:t>
                      </a:r>
                      <a:endParaRPr lang="en-US" dirty="0"/>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E</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IN" sz="1800" b="0" i="0" u="none" strike="noStrike" kern="1200" baseline="0" dirty="0">
                          <a:solidFill>
                            <a:schemeClr val="dk1"/>
                          </a:solidFill>
                          <a:latin typeface="+mn-lt"/>
                          <a:ea typeface="+mn-ea"/>
                          <a:cs typeface="+mn-cs"/>
                        </a:rPr>
                        <a:t> Ms. M. Bhavani 	</a:t>
                      </a:r>
                    </a:p>
                    <a:p>
                      <a:endParaRPr lang="en-US" b="1" dirty="0"/>
                    </a:p>
                  </a:txBody>
                  <a:tcPr/>
                </a:tc>
                <a:extLst>
                  <a:ext uri="{0D108BD9-81ED-4DB2-BD59-A6C34878D82A}">
                    <a16:rowId xmlns:a16="http://schemas.microsoft.com/office/drawing/2014/main" val="3536199969"/>
                  </a:ext>
                </a:extLst>
              </a:tr>
            </a:tbl>
          </a:graphicData>
        </a:graphic>
      </p:graphicFrame>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652463" y="1180096"/>
            <a:ext cx="10515600" cy="5358816"/>
          </a:xfrm>
        </p:spPr>
        <p:txBody>
          <a:bodyPr/>
          <a:lstStyle/>
          <a:p>
            <a:pPr>
              <a:lnSpc>
                <a:spcPct val="100000"/>
              </a:lnSpc>
            </a:pPr>
            <a:r>
              <a:rPr lang="en-US" sz="2400" dirty="0">
                <a:latin typeface="Times New Roman" panose="02020603050405020304" pitchFamily="18" charset="0"/>
                <a:cs typeface="Times New Roman" panose="02020603050405020304" pitchFamily="18" charset="0"/>
              </a:rPr>
              <a:t>Rock-Paper-Scissors appears simple, but human unpredictability makes it challenging for AI. </a:t>
            </a:r>
          </a:p>
          <a:p>
            <a:pPr>
              <a:lnSpc>
                <a:spcPct val="100000"/>
              </a:lnSpc>
            </a:pPr>
            <a:r>
              <a:rPr lang="en-US" sz="2400" dirty="0">
                <a:latin typeface="Times New Roman" panose="02020603050405020304" pitchFamily="18" charset="0"/>
                <a:cs typeface="Times New Roman" panose="02020603050405020304" pitchFamily="18" charset="0"/>
              </a:rPr>
              <a:t>Standard versions use random moves, resulting in predictable and non-intelligent behavior. In reality, players often follow subconscious patterns that a learning-based AI can detect and exploit. </a:t>
            </a:r>
          </a:p>
          <a:p>
            <a:pPr>
              <a:lnSpc>
                <a:spcPct val="100000"/>
              </a:lnSpc>
            </a:pPr>
            <a:r>
              <a:rPr lang="en-US" sz="2400" dirty="0">
                <a:latin typeface="Times New Roman" panose="02020603050405020304" pitchFamily="18" charset="0"/>
                <a:cs typeface="Times New Roman" panose="02020603050405020304" pitchFamily="18" charset="0"/>
              </a:rPr>
              <a:t>The task is to develop an AI that observes past player moves, identifies recurring patterns, and predicts the next action. </a:t>
            </a:r>
          </a:p>
          <a:p>
            <a:pPr>
              <a:lnSpc>
                <a:spcPct val="100000"/>
              </a:lnSpc>
            </a:pPr>
            <a:r>
              <a:rPr lang="en-US" sz="2400" dirty="0">
                <a:latin typeface="Times New Roman" panose="02020603050405020304" pitchFamily="18" charset="0"/>
                <a:cs typeface="Times New Roman" panose="02020603050405020304" pitchFamily="18" charset="0"/>
              </a:rPr>
              <a:t>The system must balance randomness to stay unpredictable while learning to adapt its strategy. </a:t>
            </a:r>
          </a:p>
          <a:p>
            <a:pPr>
              <a:lnSpc>
                <a:spcPct val="100000"/>
              </a:lnSpc>
            </a:pPr>
            <a:r>
              <a:rPr lang="en-US" sz="2400" dirty="0">
                <a:latin typeface="Times New Roman" panose="02020603050405020304" pitchFamily="18" charset="0"/>
                <a:cs typeface="Times New Roman" panose="02020603050405020304" pitchFamily="18" charset="0"/>
              </a:rPr>
              <a:t>The goal is to build a self-improving AI that offers a stronger challenge and demonstrates key principles of machine learning and pattern recognition.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11/9/2025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638175" y="1180096"/>
            <a:ext cx="10515600" cy="5358816"/>
          </a:xfrm>
        </p:spPr>
        <p:txBody>
          <a:bodyPr/>
          <a:lstStyle/>
          <a:p>
            <a:pPr lvl="1">
              <a:lnSpc>
                <a:spcPct val="150000"/>
              </a:lnSpc>
            </a:pPr>
            <a:r>
              <a:rPr lang="en-US" dirty="0">
                <a:latin typeface="Times New Roman" panose="02020603050405020304" pitchFamily="18" charset="0"/>
                <a:cs typeface="Times New Roman" panose="02020603050405020304" pitchFamily="18" charset="0"/>
              </a:rPr>
              <a:t>The project is based on learning agents and pattern recognition. </a:t>
            </a:r>
          </a:p>
          <a:p>
            <a:pPr lvl="1">
              <a:lnSpc>
                <a:spcPct val="150000"/>
              </a:lnSpc>
            </a:pPr>
            <a:r>
              <a:rPr lang="en-US" dirty="0">
                <a:latin typeface="Times New Roman" panose="02020603050405020304" pitchFamily="18" charset="0"/>
                <a:cs typeface="Times New Roman" panose="02020603050405020304" pitchFamily="18" charset="0"/>
              </a:rPr>
              <a:t>The AI learns from player behavior by storing recent move sequences and tracking which move usually follows them. </a:t>
            </a:r>
          </a:p>
          <a:p>
            <a:pPr lvl="1">
              <a:lnSpc>
                <a:spcPct val="150000"/>
              </a:lnSpc>
            </a:pPr>
            <a:r>
              <a:rPr lang="en-US" dirty="0">
                <a:latin typeface="Times New Roman" panose="02020603050405020304" pitchFamily="18" charset="0"/>
                <a:cs typeface="Times New Roman" panose="02020603050405020304" pitchFamily="18" charset="0"/>
              </a:rPr>
              <a:t>Using this frequency-based pattern model, similar to a low-order Markov chain, the AI predicts the player’s next move and selects the counter.</a:t>
            </a:r>
          </a:p>
          <a:p>
            <a:pPr lvl="1">
              <a:lnSpc>
                <a:spcPct val="150000"/>
              </a:lnSpc>
            </a:pPr>
            <a:r>
              <a:rPr lang="en-US" dirty="0">
                <a:latin typeface="Times New Roman" panose="02020603050405020304" pitchFamily="18" charset="0"/>
                <a:cs typeface="Times New Roman" panose="02020603050405020304" pitchFamily="18" charset="0"/>
              </a:rPr>
              <a:t>Advanced methods like reinforcement learning or neural networks are unnecessary here; the chosen approach is simple, fast, interpretable, and effectively demonstrates core AI concepts such as pattern detection and adaptive decision-making.</a:t>
            </a:r>
          </a:p>
          <a:p>
            <a:endParaRPr lang="en-US" dirty="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11/9/2025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pPr marL="0" indent="0">
              <a:buNone/>
            </a:pPr>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1137215683"/>
              </p:ext>
            </p:extLst>
          </p:nvPr>
        </p:nvGraphicFramePr>
        <p:xfrm>
          <a:off x="964079" y="2071688"/>
          <a:ext cx="8128000" cy="3146207"/>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397927">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https://github.com/Rathish-1112/rock-paper-scissors-Ai-mini-project/commit/cff053f15097990b84a6d5608de2f09917fbfd83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https://github.com/Rathish-1112/rock-paper-scissors-Ai-mini-project/commit/d9272a86e07235df33bdcef5b12ef4fa6fa20e55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normAutofit/>
          </a:bodyPr>
          <a:lstStyle/>
          <a:p>
            <a:pPr lvl="0">
              <a:lnSpc>
                <a:spcPct val="150000"/>
              </a:lnSpc>
            </a:pPr>
            <a:r>
              <a:rPr lang="en-US" sz="2400" dirty="0">
                <a:latin typeface="Times New Roman" panose="02020603050405020304" pitchFamily="18" charset="0"/>
                <a:cs typeface="Times New Roman" panose="02020603050405020304" pitchFamily="18" charset="0"/>
              </a:rPr>
              <a:t>When the program runs, a GUI opens with buttons for Rock, Paper, and Scissors. Each round shows the player’s move, the AI’s move, and the result. </a:t>
            </a:r>
          </a:p>
          <a:p>
            <a:pPr lvl="0">
              <a:lnSpc>
                <a:spcPct val="150000"/>
              </a:lnSpc>
            </a:pPr>
            <a:r>
              <a:rPr lang="en-US" sz="2400" dirty="0">
                <a:latin typeface="Times New Roman" panose="02020603050405020304" pitchFamily="18" charset="0"/>
                <a:cs typeface="Times New Roman" panose="02020603050405020304" pitchFamily="18" charset="0"/>
              </a:rPr>
              <a:t>The interface updates statistics in real time, including AI wins, player wins, ties, and win rate. </a:t>
            </a:r>
          </a:p>
          <a:p>
            <a:pPr lvl="0">
              <a:lnSpc>
                <a:spcPct val="150000"/>
              </a:lnSpc>
            </a:pPr>
            <a:r>
              <a:rPr lang="en-US" sz="2400" dirty="0">
                <a:latin typeface="Times New Roman" panose="02020603050405020304" pitchFamily="18" charset="0"/>
                <a:cs typeface="Times New Roman" panose="02020603050405020304" pitchFamily="18" charset="0"/>
              </a:rPr>
              <a:t>As more rounds are played, the AI gradually learns recurring patterns in the player’s moves and improves its win rate.</a:t>
            </a: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D0137-139B-F82D-723A-6B9413D05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20570-5762-3506-7FB8-C5E745E9C5B3}"/>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6671A1BF-6386-85A0-3852-6392A31FC13E}"/>
              </a:ext>
            </a:extLst>
          </p:cNvPr>
          <p:cNvSpPr>
            <a:spLocks noGrp="1"/>
          </p:cNvSpPr>
          <p:nvPr>
            <p:ph idx="1"/>
          </p:nvPr>
        </p:nvSpPr>
        <p:spPr>
          <a:xfrm>
            <a:off x="13154025" y="1438776"/>
            <a:ext cx="1504950" cy="365125"/>
          </a:xfrm>
        </p:spPr>
        <p:txBody>
          <a:bodyPr>
            <a:normAutofit fontScale="62500" lnSpcReduction="20000"/>
          </a:bodyPr>
          <a:lstStyle/>
          <a:p>
            <a:pPr marL="0" lvl="0" indent="0">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92EB64-349A-D774-556E-D4575597ACFB}"/>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112B8A72-29EC-F529-64B7-11969230386A}"/>
              </a:ext>
            </a:extLst>
          </p:cNvPr>
          <p:cNvSpPr>
            <a:spLocks noGrp="1"/>
          </p:cNvSpPr>
          <p:nvPr>
            <p:ph type="sldNum" sz="quarter" idx="12"/>
          </p:nvPr>
        </p:nvSpPr>
        <p:spPr/>
        <p:txBody>
          <a:bodyPr/>
          <a:lstStyle/>
          <a:p>
            <a:fld id="{1FCEF87E-815D-44D1-B0AB-39AF0402D6A8}" type="slidenum">
              <a:rPr lang="en-US" smtClean="0"/>
              <a:t>6</a:t>
            </a:fld>
            <a:endParaRPr lang="en-US"/>
          </a:p>
        </p:txBody>
      </p:sp>
      <p:pic>
        <p:nvPicPr>
          <p:cNvPr id="7" name="Picture 6">
            <a:extLst>
              <a:ext uri="{FF2B5EF4-FFF2-40B4-BE49-F238E27FC236}">
                <a16:creationId xmlns:a16="http://schemas.microsoft.com/office/drawing/2014/main" id="{5E6ED354-7A9C-5DBE-48A4-3BE3B022F6BE}"/>
              </a:ext>
            </a:extLst>
          </p:cNvPr>
          <p:cNvPicPr>
            <a:picLocks noChangeAspect="1"/>
          </p:cNvPicPr>
          <p:nvPr/>
        </p:nvPicPr>
        <p:blipFill>
          <a:blip r:embed="rId2"/>
          <a:stretch>
            <a:fillRect/>
          </a:stretch>
        </p:blipFill>
        <p:spPr>
          <a:xfrm>
            <a:off x="1957389" y="1349650"/>
            <a:ext cx="7629524" cy="4636813"/>
          </a:xfrm>
          <a:prstGeom prst="rect">
            <a:avLst/>
          </a:prstGeom>
        </p:spPr>
      </p:pic>
    </p:spTree>
    <p:extLst>
      <p:ext uri="{BB962C8B-B14F-4D97-AF65-F5344CB8AC3E}">
        <p14:creationId xmlns:p14="http://schemas.microsoft.com/office/powerpoint/2010/main" val="18462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EA32-9605-0867-2519-637405136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85AA-A42F-32C9-D2F9-D5AFC616D62E}"/>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EF5F5F47-EAFF-50D8-6C0B-A50D07E51FA2}"/>
              </a:ext>
            </a:extLst>
          </p:cNvPr>
          <p:cNvSpPr>
            <a:spLocks noGrp="1"/>
          </p:cNvSpPr>
          <p:nvPr>
            <p:ph idx="1"/>
          </p:nvPr>
        </p:nvSpPr>
        <p:spPr>
          <a:xfrm>
            <a:off x="13154025" y="1438776"/>
            <a:ext cx="1504950" cy="365125"/>
          </a:xfrm>
        </p:spPr>
        <p:txBody>
          <a:bodyPr>
            <a:normAutofit fontScale="62500" lnSpcReduction="20000"/>
          </a:bodyPr>
          <a:lstStyle/>
          <a:p>
            <a:pPr marL="0" lvl="0" indent="0">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7687E8F-9AA1-3940-9335-765C0082C2E1}"/>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12DEE084-1BD3-9C0F-25C6-5C7ADA17D991}"/>
              </a:ext>
            </a:extLst>
          </p:cNvPr>
          <p:cNvSpPr>
            <a:spLocks noGrp="1"/>
          </p:cNvSpPr>
          <p:nvPr>
            <p:ph type="sldNum" sz="quarter" idx="12"/>
          </p:nvPr>
        </p:nvSpPr>
        <p:spPr/>
        <p:txBody>
          <a:bodyPr/>
          <a:lstStyle/>
          <a:p>
            <a:fld id="{1FCEF87E-815D-44D1-B0AB-39AF0402D6A8}" type="slidenum">
              <a:rPr lang="en-US" smtClean="0"/>
              <a:t>7</a:t>
            </a:fld>
            <a:endParaRPr lang="en-US"/>
          </a:p>
        </p:txBody>
      </p:sp>
      <p:pic>
        <p:nvPicPr>
          <p:cNvPr id="8" name="Picture 7">
            <a:extLst>
              <a:ext uri="{FF2B5EF4-FFF2-40B4-BE49-F238E27FC236}">
                <a16:creationId xmlns:a16="http://schemas.microsoft.com/office/drawing/2014/main" id="{E9476624-660F-FA9E-C862-F148159CD652}"/>
              </a:ext>
            </a:extLst>
          </p:cNvPr>
          <p:cNvPicPr>
            <a:picLocks noChangeAspect="1"/>
          </p:cNvPicPr>
          <p:nvPr/>
        </p:nvPicPr>
        <p:blipFill>
          <a:blip r:embed="rId2"/>
          <a:stretch>
            <a:fillRect/>
          </a:stretch>
        </p:blipFill>
        <p:spPr>
          <a:xfrm>
            <a:off x="1928813" y="1546726"/>
            <a:ext cx="7716737" cy="4112317"/>
          </a:xfrm>
          <a:prstGeom prst="rect">
            <a:avLst/>
          </a:prstGeom>
        </p:spPr>
      </p:pic>
    </p:spTree>
    <p:extLst>
      <p:ext uri="{BB962C8B-B14F-4D97-AF65-F5344CB8AC3E}">
        <p14:creationId xmlns:p14="http://schemas.microsoft.com/office/powerpoint/2010/main" val="248455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1267326"/>
            <a:ext cx="10515600" cy="4909637"/>
          </a:xfrm>
        </p:spPr>
        <p:txBody>
          <a:bodyPr>
            <a:normAutofit/>
          </a:bodyPr>
          <a:lstStyle/>
          <a:p>
            <a:pPr marL="0" indent="0">
              <a:lnSpc>
                <a:spcPct val="100000"/>
              </a:lnSpc>
              <a:buNone/>
            </a:pPr>
            <a:r>
              <a:rPr lang="en-US" sz="2400" dirty="0">
                <a:latin typeface="Times New Roman" panose="02020603050405020304" pitchFamily="18" charset="0"/>
                <a:cs typeface="Times New Roman" panose="02020603050405020304" pitchFamily="18" charset="0"/>
              </a:rPr>
              <a:t>The Rock-Paper-Scissors AI was successfully built and showed clear adaptive learning behavior. As the AI gathered more player data, it identified repeating patterns and increased its win rate, demonstrating that simple frequency-based models can still produce intelligent game responses.</a:t>
            </a:r>
          </a:p>
          <a:p>
            <a:pPr marL="0" indent="0">
              <a:lnSpc>
                <a:spcPct val="100000"/>
              </a:lnSpc>
              <a:buNone/>
            </a:pPr>
            <a:r>
              <a:rPr lang="en-US" sz="2400" dirty="0">
                <a:latin typeface="Times New Roman" panose="02020603050405020304" pitchFamily="18" charset="0"/>
                <a:cs typeface="Times New Roman" panose="02020603050405020304" pitchFamily="18" charset="0"/>
              </a:rPr>
              <a:t>Future enhancements include:</a:t>
            </a:r>
          </a:p>
          <a:p>
            <a:pPr>
              <a:lnSpc>
                <a:spcPct val="100000"/>
              </a:lnSpc>
            </a:pPr>
            <a:r>
              <a:rPr lang="en-US" sz="2400" dirty="0">
                <a:latin typeface="Times New Roman" panose="02020603050405020304" pitchFamily="18" charset="0"/>
                <a:cs typeface="Times New Roman" panose="02020603050405020304" pitchFamily="18" charset="0"/>
              </a:rPr>
              <a:t>Adding reinforcement learning for reward-based improvement</a:t>
            </a:r>
          </a:p>
          <a:p>
            <a:pPr>
              <a:lnSpc>
                <a:spcPct val="100000"/>
              </a:lnSpc>
            </a:pPr>
            <a:r>
              <a:rPr lang="en-US" sz="2400" dirty="0">
                <a:latin typeface="Times New Roman" panose="02020603050405020304" pitchFamily="18" charset="0"/>
                <a:cs typeface="Times New Roman" panose="02020603050405020304" pitchFamily="18" charset="0"/>
              </a:rPr>
              <a:t>Introducing multiple difficulty levels</a:t>
            </a:r>
          </a:p>
          <a:p>
            <a:pPr>
              <a:lnSpc>
                <a:spcPct val="100000"/>
              </a:lnSpc>
            </a:pPr>
            <a:r>
              <a:rPr lang="en-US" sz="2400" dirty="0">
                <a:latin typeface="Times New Roman" panose="02020603050405020304" pitchFamily="18" charset="0"/>
                <a:cs typeface="Times New Roman" panose="02020603050405020304" pitchFamily="18" charset="0"/>
              </a:rPr>
              <a:t>Including visual analytics to show learning progress</a:t>
            </a:r>
          </a:p>
          <a:p>
            <a:pPr>
              <a:lnSpc>
                <a:spcPct val="100000"/>
              </a:lnSpc>
            </a:pPr>
            <a:r>
              <a:rPr lang="en-US" sz="2400" dirty="0">
                <a:latin typeface="Times New Roman" panose="02020603050405020304" pitchFamily="18" charset="0"/>
                <a:cs typeface="Times New Roman" panose="02020603050405020304" pitchFamily="18" charset="0"/>
              </a:rPr>
              <a:t>Developing a web version for multi-user gameplay</a:t>
            </a:r>
          </a:p>
          <a:p>
            <a:pPr>
              <a:lnSpc>
                <a:spcPct val="100000"/>
              </a:lnSpc>
            </a:pPr>
            <a:r>
              <a:rPr lang="en-US" sz="2400" dirty="0">
                <a:latin typeface="Times New Roman" panose="02020603050405020304" pitchFamily="18" charset="0"/>
                <a:cs typeface="Times New Roman" panose="02020603050405020304" pitchFamily="18" charset="0"/>
              </a:rPr>
              <a:t>Expanding the game with additional moves such as the Lizard-Spock variant</a:t>
            </a: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8</a:t>
            </a:fld>
            <a:endParaRPr lang="en-US"/>
          </a:p>
        </p:txBody>
      </p:sp>
    </p:spTree>
    <p:extLst>
      <p:ext uri="{BB962C8B-B14F-4D97-AF65-F5344CB8AC3E}">
        <p14:creationId xmlns:p14="http://schemas.microsoft.com/office/powerpoint/2010/main" val="1263363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938213" y="1446713"/>
            <a:ext cx="10515600" cy="4909637"/>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1. Russell, S., &amp; Norvig, P. (2021). Artificial Intelligence: A Modern Approach (4th Edition). Pearson. </a:t>
            </a:r>
          </a:p>
          <a:p>
            <a:pPr marL="0" indent="0">
              <a:lnSpc>
                <a:spcPct val="150000"/>
              </a:lnSpc>
              <a:buNone/>
            </a:pPr>
            <a:r>
              <a:rPr lang="en-IN" sz="2400" dirty="0">
                <a:latin typeface="Times New Roman" panose="02020603050405020304" pitchFamily="18" charset="0"/>
                <a:cs typeface="Times New Roman" panose="02020603050405020304" pitchFamily="18" charset="0"/>
              </a:rPr>
              <a:t>2. </a:t>
            </a:r>
            <a:r>
              <a:rPr lang="en-IN" sz="2400" dirty="0" err="1">
                <a:latin typeface="Times New Roman" panose="02020603050405020304" pitchFamily="18" charset="0"/>
                <a:cs typeface="Times New Roman" panose="02020603050405020304" pitchFamily="18" charset="0"/>
              </a:rPr>
              <a:t>GeeksforGeeks</a:t>
            </a:r>
            <a:r>
              <a:rPr lang="en-IN" sz="2400" dirty="0">
                <a:latin typeface="Times New Roman" panose="02020603050405020304" pitchFamily="18" charset="0"/>
                <a:cs typeface="Times New Roman" panose="02020603050405020304" pitchFamily="18" charset="0"/>
              </a:rPr>
              <a:t> – Rock Paper Scissors Python Implementation. </a:t>
            </a:r>
          </a:p>
          <a:p>
            <a:pPr marL="0" indent="0">
              <a:lnSpc>
                <a:spcPct val="150000"/>
              </a:lnSpc>
              <a:buNone/>
            </a:pP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RealPython</a:t>
            </a:r>
            <a:r>
              <a:rPr lang="en-US" sz="2400" dirty="0">
                <a:latin typeface="Times New Roman" panose="02020603050405020304" pitchFamily="18" charset="0"/>
                <a:cs typeface="Times New Roman" panose="02020603050405020304" pitchFamily="18" charset="0"/>
              </a:rPr>
              <a:t> – Building </a:t>
            </a:r>
            <a:r>
              <a:rPr lang="en-US" sz="2400" dirty="0" err="1">
                <a:latin typeface="Times New Roman" panose="02020603050405020304" pitchFamily="18" charset="0"/>
                <a:cs typeface="Times New Roman" panose="02020603050405020304" pitchFamily="18" charset="0"/>
              </a:rPr>
              <a:t>Tkinter</a:t>
            </a:r>
            <a:r>
              <a:rPr lang="en-US" sz="2400" dirty="0">
                <a:latin typeface="Times New Roman" panose="02020603050405020304" pitchFamily="18" charset="0"/>
                <a:cs typeface="Times New Roman" panose="02020603050405020304" pitchFamily="18" charset="0"/>
              </a:rPr>
              <a:t> GUIs in Python. </a:t>
            </a:r>
          </a:p>
          <a:p>
            <a:pPr marL="0" indent="0">
              <a:lnSpc>
                <a:spcPct val="150000"/>
              </a:lnSpc>
              <a:buNone/>
            </a:pPr>
            <a:r>
              <a:rPr lang="en-US" sz="2400" dirty="0">
                <a:latin typeface="Times New Roman" panose="02020603050405020304" pitchFamily="18" charset="0"/>
                <a:cs typeface="Times New Roman" panose="02020603050405020304" pitchFamily="18" charset="0"/>
              </a:rPr>
              <a:t>4. Analytics Vidhya – Pattern Recognition and Machine Learning Simplified. </a:t>
            </a:r>
          </a:p>
          <a:p>
            <a:pPr marL="0" indent="0">
              <a:lnSpc>
                <a:spcPct val="150000"/>
              </a:lnSpc>
              <a:buNone/>
            </a:pPr>
            <a:r>
              <a:rPr lang="en-US" sz="2400" dirty="0">
                <a:latin typeface="Times New Roman" panose="02020603050405020304" pitchFamily="18" charset="0"/>
                <a:cs typeface="Times New Roman" panose="02020603050405020304" pitchFamily="18" charset="0"/>
              </a:rPr>
              <a:t>5. Medium Blog – Designing AI Opponents in Games Using Simple Heuristics </a:t>
            </a:r>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11/9/2025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9</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TotalTime>
  <Words>570</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DEPARTMENT OF ARTIFICIAL INTELLIGENCE AND DATA SCIENCE ACADEMIC YEAR 2025 - 2026 SEMESTER III ARTIFICIAL INTELLIGENCE LABORATORY  MINI PROJECT REVIEW   ROCK-PAPER-SCISSORS AI (RANDOM + LEARNING)</vt:lpstr>
      <vt:lpstr>PROBLEM STATEMENT</vt:lpstr>
      <vt:lpstr>THEORETICAL BACKGROUND</vt:lpstr>
      <vt:lpstr>IMPLEMENTATION AND CODE</vt:lpstr>
      <vt:lpstr>OUTPUT AND RESULTS</vt:lpstr>
      <vt:lpstr>OUTPUT AND RESULTS</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vasavipalani024@gmail.com</cp:lastModifiedBy>
  <cp:revision>6</cp:revision>
  <dcterms:created xsi:type="dcterms:W3CDTF">2025-10-18T08:57:34Z</dcterms:created>
  <dcterms:modified xsi:type="dcterms:W3CDTF">2025-11-09T16:08:31Z</dcterms:modified>
</cp:coreProperties>
</file>